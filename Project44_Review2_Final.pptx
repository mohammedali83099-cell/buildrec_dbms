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292608" cy="0"/>
          </a:xfrm>
          <a:prstGeom prst="line">
            <a:avLst/>
          </a:prstGeom>
          <a:noFill/>
          <a:ln w="11430">
            <a:solidFill>
              <a:srgbClr val="C16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01168"/>
            <a:ext cx="0" cy="292608"/>
          </a:xfrm>
          <a:prstGeom prst="line">
            <a:avLst/>
          </a:prstGeom>
          <a:noFill/>
          <a:ln w="11430">
            <a:solidFill>
              <a:srgbClr val="C165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95176" y="6656832"/>
            <a:ext cx="292608" cy="0"/>
          </a:xfrm>
          <a:prstGeom prst="line">
            <a:avLst/>
          </a:prstGeom>
          <a:noFill/>
          <a:ln w="11430">
            <a:solidFill>
              <a:srgbClr val="C16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987784" y="6364224"/>
            <a:ext cx="0" cy="292608"/>
          </a:xfrm>
          <a:prstGeom prst="line">
            <a:avLst/>
          </a:prstGeom>
          <a:noFill/>
          <a:ln w="11430">
            <a:solidFill>
              <a:srgbClr val="C165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874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300" kern="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4028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Material &amp; Site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Management System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— Project 44  ·  Review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18304" y="4434840"/>
            <a:ext cx="2743200" cy="0"/>
          </a:xfrm>
          <a:prstGeom prst="line">
            <a:avLst/>
          </a:prstGeom>
          <a:noFill/>
          <a:ln w="15875">
            <a:solidFill>
              <a:srgbClr val="C165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0" y="470916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2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algn="ctr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Ali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2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 </a:t>
            </a:r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25WU0102161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2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594360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companies need to manage project, material, contractor, site progress, and billing information efficiently. Disconnected or manual records can lead to material shortages and inaccurate progress payments. A centralized database system is therefore required to integrate these activities and maintain accurate project information.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2281428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281428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Disconnected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34856" y="30952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03720" y="3406140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3406140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Shortages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Progress Payments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34856" y="42199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4530852"/>
            <a:ext cx="4828032" cy="777240"/>
          </a:xfrm>
          <a:prstGeom prst="roundRect">
            <a:avLst>
              <a:gd name="adj" fmla="val 9412"/>
            </a:avLst>
          </a:prstGeom>
          <a:solidFill>
            <a:srgbClr val="C1652A"/>
          </a:solidFill>
          <a:ln w="12700">
            <a:solidFill>
              <a:srgbClr val="C165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530852"/>
            <a:ext cx="4462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 Centralized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626489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00809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0809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070098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44418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44418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13707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88027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88027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957316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1636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1636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400925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675245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75245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844534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18854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18854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0288143" y="1536192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562463" y="1536192"/>
            <a:ext cx="1169289" cy="777240"/>
          </a:xfrm>
          <a:prstGeom prst="roundRect">
            <a:avLst>
              <a:gd name="adj" fmla="val 7059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62463" y="1536192"/>
            <a:ext cx="1169289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7432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57200" y="3319272"/>
            <a:ext cx="82296" cy="8229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" y="3200400"/>
            <a:ext cx="5152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projects, sites, contractors and work packages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3831336"/>
            <a:ext cx="82296" cy="8229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13232" y="3712464"/>
            <a:ext cx="5152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materials, suppliers, purchase orders and deliveries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4343400"/>
            <a:ext cx="82296" cy="8229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4224528"/>
            <a:ext cx="5152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site stock and material issues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855464"/>
            <a:ext cx="82296" cy="8229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4736592"/>
            <a:ext cx="5152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work progress and labour teams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7200" y="5367528"/>
            <a:ext cx="82296" cy="8229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3232" y="5248656"/>
            <a:ext cx="5152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contractor bills and manage payments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185916" y="2743200"/>
            <a:ext cx="5545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Generated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185916" y="3282696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1948" y="3200400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balance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185916" y="3703320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41948" y="3621024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progress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185916" y="4123944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41948" y="4041648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185916" y="4544568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41948" y="4462272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185916" y="4965192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41948" y="4882896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variance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185916" y="5385816"/>
            <a:ext cx="82296" cy="82296"/>
          </a:xfrm>
          <a:prstGeom prst="rect">
            <a:avLst/>
          </a:prstGeom>
          <a:solidFill>
            <a:srgbClr val="3E4A5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441948" y="5303520"/>
            <a:ext cx="528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Functional Requirements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91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26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roles, derived from the system's functions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76656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60904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76656" y="2569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Engineer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76656" y="30815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Staff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85032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76656" y="35935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/ Store Staff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197096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76656" y="41056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/ Billing Staff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73152" cy="73152"/>
          </a:xfrm>
          <a:prstGeom prst="ellipse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76656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1325880"/>
            <a:ext cx="0" cy="4892040"/>
          </a:xfrm>
          <a:prstGeom prst="line">
            <a:avLst/>
          </a:prstGeom>
          <a:noFill/>
          <a:ln w="15875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343400" y="132588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Work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43400" y="1783080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544568" y="1709928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projects, sites, contractors and work packages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2295144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544568" y="2221992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labour teams and progress entries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293522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&amp; Procurement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3392424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544568" y="3319272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materials and suppliers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3904488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544568" y="3831336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purchase orders and record deliveries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43400" y="4416552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4544568" y="4343400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site stock and material issues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5056632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Reporting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343400" y="5513832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544568" y="5440680"/>
            <a:ext cx="6153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contractor bills and record payments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43400" y="6025896"/>
            <a:ext cx="73152" cy="73152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544568" y="5952744"/>
            <a:ext cx="6153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material balance, work progress, supplier performance, contractor bill, cost variance and project status reports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Rules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17904"/>
            <a:ext cx="91440" cy="91440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1887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Issue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77640" y="1325880"/>
            <a:ext cx="0" cy="475488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188720"/>
            <a:ext cx="7205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exceed available site stock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05456"/>
            <a:ext cx="91440" cy="91440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17627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313432"/>
            <a:ext cx="0" cy="475488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2176272"/>
            <a:ext cx="7205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remain between 0% and 100%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93008"/>
            <a:ext cx="91440" cy="91440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16382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Billing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77640" y="3300984"/>
            <a:ext cx="0" cy="475488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3163824"/>
            <a:ext cx="7205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quantity must be within verified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151376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80560"/>
            <a:ext cx="91440" cy="91440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415137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77640" y="4288536"/>
            <a:ext cx="0" cy="475488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4151376"/>
            <a:ext cx="7205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exceed the approved bill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138928"/>
            <a:ext cx="11274552" cy="749808"/>
          </a:xfrm>
          <a:prstGeom prst="roundRect">
            <a:avLst>
              <a:gd name="adj" fmla="val 8537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468112"/>
            <a:ext cx="91440" cy="91440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3892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977640" y="5276088"/>
            <a:ext cx="0" cy="475488"/>
          </a:xfrm>
          <a:prstGeom prst="line">
            <a:avLst/>
          </a:prstGeom>
          <a:noFill/>
          <a:ln w="12700">
            <a:solidFill>
              <a:srgbClr val="DEDA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51960" y="5138928"/>
            <a:ext cx="7205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dates must be valid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Entity-Relationship Diagram</a:t>
            </a:r>
            <a:endParaRPr lang="en-US" sz="2500" dirty="0"/>
          </a:p>
        </p:txBody>
      </p:sp>
      <p:sp>
        <p:nvSpPr>
          <p:cNvPr id="5" name="Text 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cxnSp>
        <p:nvCxnSpPr>
          <p:cNvPr id="6" name="Connector 5"/>
          <p:cNvCxnSpPr/>
          <p:nvPr/>
        </p:nvCxnSpPr>
        <p:spPr>
          <a:xfrm>
            <a:off x="5989320" y="1399032"/>
            <a:ext cx="0" cy="1161288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783080" y="2926080"/>
            <a:ext cx="1005840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51960" y="2926080"/>
            <a:ext cx="1005840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20840" y="2926080"/>
            <a:ext cx="1005839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89719" y="1188720"/>
            <a:ext cx="1005841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58200" y="1540764"/>
            <a:ext cx="0" cy="1019556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01100" y="3419856"/>
            <a:ext cx="0" cy="877824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55080" y="3278124"/>
            <a:ext cx="0" cy="1019556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937760" y="4663440"/>
            <a:ext cx="1051560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28916" y="5157216"/>
            <a:ext cx="0" cy="740664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40496" y="5157216"/>
            <a:ext cx="0" cy="740664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63339" y="3561587"/>
            <a:ext cx="0" cy="736093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20440" y="1824228"/>
            <a:ext cx="0" cy="736092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83080" y="1188720"/>
            <a:ext cx="1005840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83080" y="3429000"/>
            <a:ext cx="1005840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51560" y="4169664"/>
            <a:ext cx="0" cy="722376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5650992" y="1787652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1787652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has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6168" y="1417320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6168" y="2395727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26" name="Diamond 25"/>
          <p:cNvSpPr/>
          <p:nvPr/>
        </p:nvSpPr>
        <p:spPr>
          <a:xfrm>
            <a:off x="1947672" y="273405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47672" y="273405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assigns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1368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4327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30" name="Diamond 29"/>
          <p:cNvSpPr/>
          <p:nvPr/>
        </p:nvSpPr>
        <p:spPr>
          <a:xfrm>
            <a:off x="4416552" y="273405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273405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contains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0248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93208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34" name="Diamond 33"/>
          <p:cNvSpPr/>
          <p:nvPr/>
        </p:nvSpPr>
        <p:spPr>
          <a:xfrm>
            <a:off x="6885431" y="273405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85431" y="273405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receives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39127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2088" y="285292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38" name="Diamond 37"/>
          <p:cNvSpPr/>
          <p:nvPr/>
        </p:nvSpPr>
        <p:spPr>
          <a:xfrm>
            <a:off x="9354312" y="99669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99669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receives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08007" y="11155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30968" y="11155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42" name="Diamond 41"/>
          <p:cNvSpPr/>
          <p:nvPr/>
        </p:nvSpPr>
        <p:spPr>
          <a:xfrm>
            <a:off x="8119872" y="1858517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9872" y="1858517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produces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85048" y="1559052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85048" y="2395727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46" name="Diamond 45"/>
          <p:cNvSpPr/>
          <p:nvPr/>
        </p:nvSpPr>
        <p:spPr>
          <a:xfrm>
            <a:off x="8462772" y="3666744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62772" y="3666744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contains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27948" y="343814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27948" y="41330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50" name="Diamond 49"/>
          <p:cNvSpPr/>
          <p:nvPr/>
        </p:nvSpPr>
        <p:spPr>
          <a:xfrm>
            <a:off x="6016752" y="3595878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16752" y="3595878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holds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81928" y="3296412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41330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54" name="Diamond 53"/>
          <p:cNvSpPr/>
          <p:nvPr/>
        </p:nvSpPr>
        <p:spPr>
          <a:xfrm>
            <a:off x="5125212" y="447141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25212" y="447141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56048" y="45902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24728" y="45902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58" name="Diamond 57"/>
          <p:cNvSpPr/>
          <p:nvPr/>
        </p:nvSpPr>
        <p:spPr>
          <a:xfrm>
            <a:off x="6990588" y="5335524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90588" y="5335524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stored 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5764" y="517550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55764" y="57332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2" name="Diamond 61"/>
          <p:cNvSpPr/>
          <p:nvPr/>
        </p:nvSpPr>
        <p:spPr>
          <a:xfrm>
            <a:off x="8202168" y="5335524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02168" y="5335524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appears 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67344" y="517550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67344" y="57332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6" name="Diamond 65"/>
          <p:cNvSpPr/>
          <p:nvPr/>
        </p:nvSpPr>
        <p:spPr>
          <a:xfrm>
            <a:off x="3525011" y="3737609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25011" y="3737609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issued to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0187" y="3579875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90187" y="413308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70" name="Diamond 69"/>
          <p:cNvSpPr/>
          <p:nvPr/>
        </p:nvSpPr>
        <p:spPr>
          <a:xfrm>
            <a:off x="3182112" y="2000250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82112" y="2000250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tracks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47288" y="1842516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47288" y="2395727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74" name="Diamond 73"/>
          <p:cNvSpPr/>
          <p:nvPr/>
        </p:nvSpPr>
        <p:spPr>
          <a:xfrm>
            <a:off x="1947672" y="99669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947672" y="99669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logs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01368" y="11155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24327" y="111556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78" name="Diamond 77"/>
          <p:cNvSpPr/>
          <p:nvPr/>
        </p:nvSpPr>
        <p:spPr>
          <a:xfrm>
            <a:off x="1947672" y="3236976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47672" y="3236976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generates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01368" y="335584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24327" y="335584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82" name="Diamond 81"/>
          <p:cNvSpPr/>
          <p:nvPr/>
        </p:nvSpPr>
        <p:spPr>
          <a:xfrm>
            <a:off x="713231" y="4338828"/>
            <a:ext cx="676656" cy="384048"/>
          </a:xfrm>
          <a:prstGeom prst="diamond">
            <a:avLst/>
          </a:prstGeom>
          <a:solidFill>
            <a:srgbClr val="D6E4F5"/>
          </a:solidFill>
          <a:ln w="1397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1" y="4338828"/>
            <a:ext cx="676656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1F3A6B"/>
                </a:solidFill>
                <a:latin typeface="Calibri"/>
              </a:rPr>
              <a:t>receives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78407" y="4187952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8407" y="4727448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202020"/>
                </a:solidFill>
                <a:latin typeface="Calibri"/>
              </a:rPr>
              <a:t>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57800" y="822960"/>
            <a:ext cx="1463040" cy="576072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30952" y="85953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PROJECTS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5312664" y="106984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330952" y="1106424"/>
            <a:ext cx="102412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Project_ID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Project_Name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08776" y="1106424"/>
            <a:ext cx="438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257800" y="2560320"/>
            <a:ext cx="1463040" cy="717804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330952" y="259689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SITES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5312664" y="280720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5330952" y="2843784"/>
            <a:ext cx="1024127" cy="416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Site_ID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Project_ID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Site_Name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08776" y="2843784"/>
            <a:ext cx="438911" cy="416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560320"/>
            <a:ext cx="1463040" cy="1001268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62072" y="259689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WORK PACKAGES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843784" y="280720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862072" y="2843784"/>
            <a:ext cx="1024127" cy="699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Work_Package_ID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Site_ID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Contractor_ID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Work_Package_Name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Verified_Quantity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739896" y="2843784"/>
            <a:ext cx="438911" cy="699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2560320"/>
            <a:ext cx="1463040" cy="576072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3192" y="259689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CONTRACTORS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74904" y="280720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93192" y="2843784"/>
            <a:ext cx="102412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Contractor_ID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Contractor_Name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71016" y="2843784"/>
            <a:ext cx="438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95560" y="822960"/>
            <a:ext cx="1463040" cy="576072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68712" y="85953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SUPPLIERS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10250424" y="106984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268712" y="1106424"/>
            <a:ext cx="102412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Supplier_ID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Supplier_Name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146536" y="1106424"/>
            <a:ext cx="438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26679" y="822960"/>
            <a:ext cx="1463040" cy="717804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99831" y="85953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PURCHASE ORDERS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7781544" y="1069848"/>
            <a:ext cx="1353311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799831" y="1106424"/>
            <a:ext cx="1024127" cy="416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PO_ID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Supplier_ID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Order_Date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77655" y="1106424"/>
            <a:ext cx="438911" cy="4160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726679" y="2560320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99831" y="259689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DELIVERIES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7781544" y="2807208"/>
            <a:ext cx="1353311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799831" y="2843784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Delivery_ID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PO_ID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Site_ID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Delivery_Date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77655" y="2843784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12480" y="4297680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85632" y="433425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DELIVERY ITEMS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8467344" y="4544568"/>
            <a:ext cx="1353311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8485632" y="4581144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Delivery_Item_ID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Delivery_ID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Material_ID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Quantity_Delivered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63455" y="4581144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205472" y="5897880"/>
            <a:ext cx="1463040" cy="576072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78624" y="593445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MATERIALS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260336" y="614476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7278624" y="6181344"/>
            <a:ext cx="102412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Material_ID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Material_Name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56448" y="6181344"/>
            <a:ext cx="438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89320" y="4297680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62472" y="433425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SITE STOCK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044183" y="4544568"/>
            <a:ext cx="1353313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062472" y="4581144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Stock_ID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Site_ID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Material_ID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Quantity_Available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40296" y="4581144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74720" y="4297680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547872" y="433425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ISSUES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3529584" y="454456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3547872" y="4581144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Issue_ID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Stock_ID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Work_Package_ID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Quantity_Issued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425696" y="4581144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0040" y="822960"/>
            <a:ext cx="1463040" cy="576072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93192" y="85953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LABOUR TEAMS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374904" y="106984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393192" y="1106424"/>
            <a:ext cx="1024127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Labour_Team_ID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Team_Name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71016" y="1106424"/>
            <a:ext cx="438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88920" y="822960"/>
            <a:ext cx="1463040" cy="1001268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862072" y="85953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PROGRESS ENTRIES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2843784" y="1069848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2862072" y="1106424"/>
            <a:ext cx="1024127" cy="699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Progress_ID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Work_Package_ID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Labour_Team_ID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Percent_Complete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Progress_Date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739896" y="1106424"/>
            <a:ext cx="438911" cy="6995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20040" y="3310128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93192" y="3346704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BILLS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74904" y="3557016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393192" y="3593592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Bill_ID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Work_Package_ID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Billed_Quantity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Bill_Amount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71016" y="3593592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20040" y="4892040"/>
            <a:ext cx="1463040" cy="859536"/>
          </a:xfrm>
          <a:prstGeom prst="rect">
            <a:avLst/>
          </a:prstGeom>
          <a:solidFill>
            <a:srgbClr val="F0EDE4"/>
          </a:solidFill>
          <a:ln w="19050">
            <a:solidFill>
              <a:srgbClr val="1F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3192" y="4928616"/>
            <a:ext cx="131673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1F3A6B"/>
                </a:solidFill>
                <a:latin typeface="Calibri"/>
              </a:rPr>
              <a:t>PAYMENTS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374904" y="5138927"/>
            <a:ext cx="1353312" cy="0"/>
          </a:xfrm>
          <a:prstGeom prst="line">
            <a:avLst/>
          </a:prstGeom>
          <a:ln w="13970">
            <a:solidFill>
              <a:srgbClr val="1F3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393192" y="5175503"/>
            <a:ext cx="102412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Payment_ID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Bill_ID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Amount_Paid</a:t>
            </a:r>
          </a:p>
          <a:p>
            <a:pPr algn="l">
              <a:lnSpc>
                <a:spcPct val="100000"/>
              </a:lnSpc>
            </a:pPr>
            <a:r>
              <a:rPr sz="650" b="0">
                <a:solidFill>
                  <a:srgbClr val="222222"/>
                </a:solidFill>
                <a:latin typeface="Calibri"/>
              </a:rPr>
              <a:t>Payment_Date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71016" y="5175503"/>
            <a:ext cx="438911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(PK)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(FK)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  <a:p>
            <a:pPr algn="r">
              <a:lnSpc>
                <a:spcPct val="100000"/>
              </a:lnSpc>
            </a:pPr>
            <a:r>
              <a:rPr sz="650" b="0">
                <a:solidFill>
                  <a:srgbClr val="E07B1A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</a:t>
            </a:r>
            <a:endParaRPr lang="en-US" sz="2500" dirty="0"/>
          </a:p>
        </p:txBody>
      </p:sp>
      <p:pic>
        <p:nvPicPr>
          <p:cNvPr id="4" name="Image 0" descr="/home/claude/schema_sha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63" y="923330"/>
            <a:ext cx="10275025" cy="53313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Functional Dependencies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Dependencies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766560" cy="4709160"/>
          </a:xfrm>
          <a:prstGeom prst="roundRect">
            <a:avLst>
              <a:gd name="adj" fmla="val 1165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76656" y="1554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76856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51176" y="155448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Project_Name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30352" y="1810512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76656" y="1810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76856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51176" y="181051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Site_Name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06654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Contractor_ID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066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551176" y="206654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Contractor_Name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30352" y="2322576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76656" y="23225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276856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551176" y="2322576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Supplier_Name</a:t>
            </a:r>
            <a:endParaRPr lang="en-US" sz="1080" dirty="0"/>
          </a:p>
        </p:txBody>
      </p:sp>
      <p:sp>
        <p:nvSpPr>
          <p:cNvPr id="20" name="Text 18"/>
          <p:cNvSpPr txBox="1"/>
          <p:nvPr/>
        </p:nvSpPr>
        <p:spPr>
          <a:xfrm>
            <a:off x="676656" y="25786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Work_Package_ID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76856" y="2578608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551176" y="2578608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Project_ID, Contractor_ID, Work_Package_Name, Verified_Quantity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30352" y="3054096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76656" y="30540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Material_ID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276856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551176" y="3054096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Material_Name</a:t>
            </a:r>
            <a:endParaRPr lang="en-US" sz="108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PO_ID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276856" y="3310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551176" y="3310128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Supplier_ID, Order_Date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30352" y="3566160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76656" y="35661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Delivery_ID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76856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551176" y="356616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PO_ID, Site_ID, Delivery_Date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676656" y="3822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Delivery_Item_ID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276856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2551176" y="3822192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Delivery_ID, Material_ID, Quantity_Delivered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530352" y="4078224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76656" y="40782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276856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2551176" y="4078224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Site_ID, Material_ID, Quantity_Available</a:t>
            </a:r>
            <a:endParaRPr lang="en-US" sz="1080" dirty="0"/>
          </a:p>
        </p:txBody>
      </p:sp>
      <p:sp>
        <p:nvSpPr>
          <p:cNvPr id="41" name="Text 39"/>
          <p:cNvSpPr txBox="1"/>
          <p:nvPr/>
        </p:nvSpPr>
        <p:spPr>
          <a:xfrm>
            <a:off x="676656" y="43342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Issue_ID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2276856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2551176" y="4334256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Stock_ID, Work_Package_ID, Quantity_Issued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530352" y="4590288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676656" y="45902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Labour_Team_ID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276856" y="4590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2551176" y="4590288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Team_Name</a:t>
            </a:r>
            <a:endParaRPr lang="en-US" sz="1080" dirty="0"/>
          </a:p>
        </p:txBody>
      </p:sp>
      <p:sp>
        <p:nvSpPr>
          <p:cNvPr id="48" name="Text 46"/>
          <p:cNvSpPr txBox="1"/>
          <p:nvPr/>
        </p:nvSpPr>
        <p:spPr>
          <a:xfrm>
            <a:off x="676656" y="48463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Progress_ID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2276856" y="484632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2551176" y="4846320"/>
            <a:ext cx="4489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Work_Package_ID, Labour_Team_ID, Percent_Complete, Progress_Date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530352" y="5321808"/>
            <a:ext cx="6620256" cy="256032"/>
          </a:xfrm>
          <a:prstGeom prst="rect">
            <a:avLst/>
          </a:prstGeom>
          <a:solidFill>
            <a:srgbClr val="E7E4DC"/>
          </a:solidFill>
          <a:ln/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676656" y="5321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2276856" y="5321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2551176" y="5321808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Work_Package_ID, Billed_Quantity, Bill_Amount</a:t>
            </a:r>
            <a:endParaRPr lang="en-US" sz="1080" dirty="0"/>
          </a:p>
        </p:txBody>
      </p:sp>
      <p:sp>
        <p:nvSpPr>
          <p:cNvPr id="55" name="Text 53"/>
          <p:cNvSpPr txBox="1"/>
          <p:nvPr/>
        </p:nvSpPr>
        <p:spPr>
          <a:xfrm>
            <a:off x="676656" y="55778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2276856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2551176" y="5577840"/>
            <a:ext cx="4489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Bill_ID, Amount_Paid, Payment_Date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7543800" y="1463040"/>
            <a:ext cx="4187952" cy="960120"/>
          </a:xfrm>
          <a:prstGeom prst="roundRect">
            <a:avLst>
              <a:gd name="adj" fmla="val 5714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7708392" y="1536192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708392" y="1810512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attributes; no repeating groups.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9500616" y="2423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543800" y="2624328"/>
            <a:ext cx="4187952" cy="960120"/>
          </a:xfrm>
          <a:prstGeom prst="roundRect">
            <a:avLst>
              <a:gd name="adj" fmla="val 5714"/>
            </a:avLst>
          </a:prstGeom>
          <a:solidFill>
            <a:srgbClr val="EFEDE7"/>
          </a:solidFill>
          <a:ln w="12700">
            <a:solidFill>
              <a:srgbClr val="DEDAD0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 txBox="1"/>
          <p:nvPr/>
        </p:nvSpPr>
        <p:spPr>
          <a:xfrm>
            <a:off x="7708392" y="26974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6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7708392" y="2971800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A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partial dependencies; tables use single-attribute primary keys.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9500616" y="35844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6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543800" y="3785616"/>
            <a:ext cx="4187952" cy="960120"/>
          </a:xfrm>
          <a:prstGeom prst="roundRect">
            <a:avLst>
              <a:gd name="adj" fmla="val 5714"/>
            </a:avLst>
          </a:prstGeom>
          <a:solidFill>
            <a:srgbClr val="C1652A"/>
          </a:solidFill>
          <a:ln w="12700">
            <a:solidFill>
              <a:srgbClr val="C1652A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 txBox="1"/>
          <p:nvPr/>
        </p:nvSpPr>
        <p:spPr>
          <a:xfrm>
            <a:off x="7708392" y="38587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7708392" y="4133088"/>
            <a:ext cx="3858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dependencies; non-key attributes depend only on their primary key.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543800" y="4983480"/>
            <a:ext cx="4187952" cy="1188720"/>
          </a:xfrm>
          <a:prstGeom prst="roundRect">
            <a:avLst>
              <a:gd name="adj" fmla="val 4615"/>
            </a:avLst>
          </a:prstGeom>
          <a:solidFill>
            <a:srgbClr val="3E4A5C"/>
          </a:solidFill>
          <a:ln/>
        </p:spPr>
        <p:txBody>
          <a:bodyPr/>
          <a:p/>
        </p:txBody>
      </p:sp>
      <p:sp>
        <p:nvSpPr>
          <p:cNvPr id="70" name="Text 68"/>
          <p:cNvSpPr txBox="1"/>
          <p:nvPr/>
        </p:nvSpPr>
        <p:spPr>
          <a:xfrm>
            <a:off x="7726680" y="4983480"/>
            <a:ext cx="3822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database design is normalized up to 3NF, reducing redundancy and maintaining data integrity.</a:t>
            </a:r>
            <a:endParaRPr lang="en-US" sz="1050" dirty="0"/>
          </a:p>
        </p:txBody>
      </p:sp>
      <p:sp>
        <p:nvSpPr>
          <p:cNvPr id="71" name="Text 69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8.0 Implementation &amp; Testing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457200" y="128016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8"/>
                </a:solidFill>
                <a:latin typeface="Cambria"/>
              </a:rPr>
              <a:t>Database Implementation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1664208"/>
            <a:ext cx="5408676" cy="18288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14884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2057400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Database: Construction_Site_Management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660904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2569464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15 tables created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72968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3081528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Primary Key and Foreign Key constraints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85032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3593592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NOT NULL, CHECK and referential integrity constraints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97096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105656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Sample data inserted across all tables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70916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" y="4617720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Database relationships implemented according to the ERD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3076" y="1280160"/>
            <a:ext cx="54086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8"/>
                </a:solidFill>
                <a:latin typeface="Cambria"/>
              </a:rPr>
              <a:t>Business Rule Testing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3076" y="1664208"/>
            <a:ext cx="5408676" cy="18288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23076" y="214884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42532" y="2057400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Invalid progress percentage → Rejected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23076" y="2660904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42532" y="2569464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Issue quantity exceeding available stock → Rejected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3076" y="3172968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42532" y="3081528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Bill quantity exceeding verified quantity → Rejected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3076" y="3685032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42532" y="3593592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Invalid delivery date → Rejected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23076" y="4197096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42532" y="4105656"/>
            <a:ext cx="51892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Payment exceeding bill amount → 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C1652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Queries, Views &amp; Reports</a:t>
            </a:r>
            <a:endParaRPr lang="en-US" sz="25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C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457200" y="1280160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8"/>
                </a:solidFill>
                <a:latin typeface="Cambria"/>
              </a:rPr>
              <a:t>SQL Queries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1664208"/>
            <a:ext cx="3453384" cy="18288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214884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2057400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Multi-table JOIN queries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660904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2569464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Aggregate functions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172968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3081528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Subqueries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85032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" y="3593592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Filtering &amp; grouping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97096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" y="4105656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Construction, site, material, progress and billing queries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67784" y="1280160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8"/>
                </a:solidFill>
                <a:latin typeface="Cambria"/>
              </a:rPr>
              <a:t>Views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67784" y="1664208"/>
            <a:ext cx="3453384" cy="18288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67784" y="214884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7240" y="2057400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Material Balance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7784" y="2660904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87240" y="2569464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Work Progress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67784" y="3172968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87240" y="3081528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Supplier Performance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67784" y="3685032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87240" y="3593592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Contractor Bills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67784" y="4197096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87240" y="4105656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Cost Variance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67784" y="470916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87240" y="4617720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Project 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78368" y="1280160"/>
            <a:ext cx="34533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A2A28"/>
                </a:solidFill>
                <a:latin typeface="Cambria"/>
              </a:rPr>
              <a:t>Reports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8368" y="1664208"/>
            <a:ext cx="3453384" cy="18288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8368" y="214884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7824" y="2057400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Material &amp; Stock Report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8368" y="2660904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97824" y="2569464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Site Progress Report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8368" y="3172968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97824" y="3081528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Supplier Performance Report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8368" y="3685032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97824" y="3593592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Contractor Billing &amp; Payment Report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8368" y="4197096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97824" y="4105656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Project Cost Variance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78368" y="4709160"/>
            <a:ext cx="73152" cy="73152"/>
          </a:xfrm>
          <a:prstGeom prst="rect">
            <a:avLst/>
          </a:prstGeom>
          <a:solidFill>
            <a:srgbClr val="C16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97824" y="4617720"/>
            <a:ext cx="3233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A2A28"/>
                </a:solidFill>
                <a:latin typeface="Calibri"/>
              </a:rPr>
              <a:t>Project Status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2026-10-04T13:20:42Z</dcterms:created>
  <dcterms:modified xsi:type="dcterms:W3CDTF">2026-10-04T13:20:42Z</dcterms:modified>
</cp:coreProperties>
</file>